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18320" y="45720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dirty="0">
                <a:solidFill>
                  <a:srgbClr val="3A4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576072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 · PYTHON + ANTLR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Asignación, Escritura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Tabla de Símbolos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85800" y="347472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749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gramática con estado: cómo un intérprete recuerda el valor de una variable entre instrucciones.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la gramática Prog.g4 — asignaciones y escritura de variables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059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8059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programa que queremos interpretar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instrucciones, pero con un ingrediente nuevo: las variables deben recordarse entre líneas.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51760" y="2468880"/>
            <a:ext cx="6858000" cy="2377440"/>
          </a:xfrm>
          <a:prstGeom prst="roundRect">
            <a:avLst>
              <a:gd name="adj" fmla="val 3077"/>
            </a:avLst>
          </a:prstGeom>
          <a:solidFill>
            <a:srgbClr val="1214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07792" y="2606040"/>
            <a:ext cx="63459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:= 3 + 5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x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:= 6 - 4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y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74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lograrlo, el intérprete necesita algo que la gramática de expresiones NO tenía: memoria.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Asignación, Escritura y Tabla de Símbolos · ANTLR + Python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GRAMÁTICA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Prog.g4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Extiende la gramática de expresiones con dos tipos de instrucción y una nueva forma de expr: la variable.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64240" cy="4069080"/>
          </a:xfrm>
          <a:prstGeom prst="roundRect">
            <a:avLst>
              <a:gd name="adj" fmla="val 1798"/>
            </a:avLst>
          </a:prstGeom>
          <a:solidFill>
            <a:srgbClr val="1214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468880"/>
            <a:ext cx="105521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grammar Prog;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prog: stat+ EOF 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stat: ID ':=' expr     # Assign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'write' ID          # Write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expr: expr ('*'|'/') expr   # MulDiv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expr ('+'|'-') expr   # AddSub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INT                    # Int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ID                     # Var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'(' expr ')'            # Parens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: [a-zA-Z_][a-zA-Z_0-9]* 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: [0-9]+ 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  : [ \t\r\n]+ -&gt; skip 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Asignación, Escritura y Tabla de Símbolos · ANTLR + Python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cambia respecto a una calculadora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2356" y="1965960"/>
            <a:ext cx="5349240" cy="397764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2396" y="21945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 — la instrucción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6676" y="269748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1214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2708" y="2834640"/>
            <a:ext cx="4288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stat: ID ':=' expr  # Assign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'write' ID     # Write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82396" y="41148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resultado de una expresión bajo un nombre.
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 el valor que ya está guardado con ese nombre.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77356" y="1965960"/>
            <a:ext cx="5349240" cy="397764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7396" y="21945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— la variable dentro de expr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51676" y="269748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1214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07708" y="2834640"/>
            <a:ext cx="4288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expr: ...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ID   # Var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...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97396" y="41148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Antes, expr solo podía ser un número o una operación. Ahora un identificador también es una expresión válida — así x + 1 o write x tienen sentido para la gramática.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Asignación, Escritura y Tabla de Símbolos · ANTLR + Python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97764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MECANISMO DE EVALUACIÓN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tabla de símbolos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diccionario de Python — nombre de variable → valor — que vive dentro del Visitor y persiste entre instrucciones.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66160" y="27432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3A42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9476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tabla_simbolos = {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3337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8,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'y'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4160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645920" y="4709160"/>
            <a:ext cx="8869680" cy="731520"/>
          </a:xfrm>
          <a:prstGeom prst="roundRect">
            <a:avLst>
              <a:gd name="adj" fmla="val 10000"/>
            </a:avLst>
          </a:prstGeom>
          <a:solidFill>
            <a:srgbClr val="1E4A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920240" y="4782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escribe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478231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:= 3 + 5  →  tabla_simbolos['x'] = 8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45920" y="5577840"/>
            <a:ext cx="8869680" cy="731520"/>
          </a:xfrm>
          <a:prstGeom prst="roundRect">
            <a:avLst>
              <a:gd name="adj" fmla="val 10000"/>
            </a:avLst>
          </a:prstGeom>
          <a:solidFill>
            <a:srgbClr val="1E4A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920240" y="5650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/ Write leen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565099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x  →  print(tabla_simbolos['x'])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Asignación, Escritura y Tabla de Símbolos · ANTLR +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VISITOR · PARTE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Recorrer el programa y asignar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949440" cy="4297680"/>
          </a:xfrm>
          <a:prstGeom prst="roundRect">
            <a:avLst>
              <a:gd name="adj" fmla="val 1702"/>
            </a:avLst>
          </a:prstGeom>
          <a:solidFill>
            <a:srgbClr val="1214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643737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EvalVisitor(ProgVisitor):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self.tabla_simbolos = {}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visitProg(self, ctx):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s in ctx.stat():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self.visit(s)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visitAssign(self, ctx):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nombre = ctx.ID().getText()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valor = self.visit(ctx.expr())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self.tabla_simbolos[nombre] = valor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80960" y="196596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0956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514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diccionario UNA sola vez, al construir el Visitor.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338328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0956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visitProg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3931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cada instrucción en orden, de arriba hacia abajo.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0" y="480060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09560" y="4937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visitAssign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5349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el lado derecho primero, luego lo guarda en la tabla.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Asignación, Escritura y Tabla de Símbolos · ANTLR + Python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VISITOR · PARTE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 variables y evaluar operaciones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943600" cy="4297680"/>
          </a:xfrm>
          <a:prstGeom prst="roundRect">
            <a:avLst>
              <a:gd name="adj" fmla="val 1702"/>
            </a:avLst>
          </a:prstGeom>
          <a:solidFill>
            <a:srgbClr val="1214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54315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visitWrite(self, ctx):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= ctx.ID().getText()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print(self.tabla_simbolos[nombre])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visitInt(self, ctx):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int(ctx.INT().getText())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visitVar(self, ctx):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= ctx.ID().getText()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self.tabla_simbolos[nombre]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operadores no cambian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20840" y="237744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1214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76872" y="2514600"/>
            <a:ext cx="44256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visitAddSub(self, ctx):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 = self.visit(ctx.expr(0))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self.visit(ctx.expr(1))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ctx.op.text == '+':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 + r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 - 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4617720"/>
            <a:ext cx="4937760" cy="1645920"/>
          </a:xfrm>
          <a:prstGeom prst="roundRect">
            <a:avLst>
              <a:gd name="adj" fmla="val 5556"/>
            </a:avLst>
          </a:prstGeom>
          <a:solidFill>
            <a:srgbClr val="3A427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0" y="48006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visitVar es el espejo de visitAssign: uno escribe en la tabla, el otro lee — igual que Write es el espejo de Assign a nivel de instrucción.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Asignación, Escritura y Tabla de Símbolos · ANTLR + Python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345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34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Main.py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737360" y="1965960"/>
            <a:ext cx="8686800" cy="4480560"/>
          </a:xfrm>
          <a:prstGeom prst="roundRect">
            <a:avLst>
              <a:gd name="adj" fmla="val 1633"/>
            </a:avLst>
          </a:prstGeom>
          <a:solidFill>
            <a:srgbClr val="1214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93392" y="2103120"/>
            <a:ext cx="817473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antlr4 import InputStream, CommonTokenStream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ProgLexer import ProgLexer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ProgParser import ProgParser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EvalVisitor import EvalVisitor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 = """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:= 3 + 5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x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:= 6 - 4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y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lexer  = ProgLexer(InputStream(codigo))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= CommonTokenStream(lexer)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 = ProgParser(tokens)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   = parser.prog()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EvalVisitor().visit(tree)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Asignación, Escritura y Tabla de Símbolos · ANTLR + Python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3474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ENTENDERLO A FONDO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 de ejecución, paso a paso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92608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0" y="2103120"/>
            <a:ext cx="466344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94760" y="2103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del Visitor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03920" y="2103120"/>
            <a:ext cx="310896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41080" y="2103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tabla_simbolos después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2926080" cy="914400"/>
          </a:xfrm>
          <a:prstGeom prst="rect">
            <a:avLst/>
          </a:prstGeom>
          <a:solidFill>
            <a:srgbClr val="3A4270"/>
          </a:solidFill>
          <a:ln w="9525">
            <a:solidFill>
              <a:srgbClr val="141B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606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:= 3 + 5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0" y="2606040"/>
            <a:ext cx="4663440" cy="914400"/>
          </a:xfrm>
          <a:prstGeom prst="rect">
            <a:avLst/>
          </a:prstGeom>
          <a:solidFill>
            <a:srgbClr val="3A4270"/>
          </a:solidFill>
          <a:ln w="9525">
            <a:solidFill>
              <a:srgbClr val="141B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94760" y="2606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visitAssign evalúa 3+5=8 y lo guarda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2606040"/>
            <a:ext cx="3108960" cy="914400"/>
          </a:xfrm>
          <a:prstGeom prst="rect">
            <a:avLst/>
          </a:prstGeom>
          <a:solidFill>
            <a:srgbClr val="3A4270"/>
          </a:solidFill>
          <a:ln w="9525">
            <a:solidFill>
              <a:srgbClr val="141B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41080" y="2606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{'x': 8}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2926080" cy="914400"/>
          </a:xfrm>
          <a:prstGeom prst="rect">
            <a:avLst/>
          </a:prstGeom>
          <a:solidFill>
            <a:srgbClr val="1E4A45"/>
          </a:solidFill>
          <a:ln w="9525">
            <a:solidFill>
              <a:srgbClr val="141B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520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x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0" y="3520440"/>
            <a:ext cx="4663440" cy="914400"/>
          </a:xfrm>
          <a:prstGeom prst="rect">
            <a:avLst/>
          </a:prstGeom>
          <a:solidFill>
            <a:srgbClr val="1E4A45"/>
          </a:solidFill>
          <a:ln w="9525">
            <a:solidFill>
              <a:srgbClr val="141B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94760" y="35204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visitWrite lee 'x' → imprime 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3520440"/>
            <a:ext cx="3108960" cy="914400"/>
          </a:xfrm>
          <a:prstGeom prst="rect">
            <a:avLst/>
          </a:prstGeom>
          <a:solidFill>
            <a:srgbClr val="1E4A45"/>
          </a:solidFill>
          <a:ln w="9525">
            <a:solidFill>
              <a:srgbClr val="141B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41080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{'x': 8}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2926080" cy="914400"/>
          </a:xfrm>
          <a:prstGeom prst="rect">
            <a:avLst/>
          </a:prstGeom>
          <a:solidFill>
            <a:srgbClr val="3A4270"/>
          </a:solidFill>
          <a:ln w="9525">
            <a:solidFill>
              <a:srgbClr val="141B4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4434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:= 6 - 4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657600" y="4434840"/>
            <a:ext cx="4663440" cy="914400"/>
          </a:xfrm>
          <a:prstGeom prst="rect">
            <a:avLst/>
          </a:prstGeom>
          <a:solidFill>
            <a:srgbClr val="3A4270"/>
          </a:solidFill>
          <a:ln w="9525">
            <a:solidFill>
              <a:srgbClr val="141B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94760" y="44348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visitAssign evalúa 6-4=2 y lo guarda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03920" y="4434840"/>
            <a:ext cx="3108960" cy="914400"/>
          </a:xfrm>
          <a:prstGeom prst="rect">
            <a:avLst/>
          </a:prstGeom>
          <a:solidFill>
            <a:srgbClr val="3A4270"/>
          </a:solidFill>
          <a:ln w="9525">
            <a:solidFill>
              <a:srgbClr val="141B4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41080" y="44348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{'x': 8, 'y': 2}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349240"/>
            <a:ext cx="2926080" cy="914400"/>
          </a:xfrm>
          <a:prstGeom prst="rect">
            <a:avLst/>
          </a:prstGeom>
          <a:solidFill>
            <a:srgbClr val="1E4A45"/>
          </a:solidFill>
          <a:ln w="9525">
            <a:solidFill>
              <a:srgbClr val="141B4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349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y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657600" y="5349240"/>
            <a:ext cx="4663440" cy="914400"/>
          </a:xfrm>
          <a:prstGeom prst="rect">
            <a:avLst/>
          </a:prstGeom>
          <a:solidFill>
            <a:srgbClr val="1E4A45"/>
          </a:solidFill>
          <a:ln w="9525">
            <a:solidFill>
              <a:srgbClr val="141B4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94760" y="53492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visitWrite lee 'y' → imprime 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03920" y="5349240"/>
            <a:ext cx="3108960" cy="914400"/>
          </a:xfrm>
          <a:prstGeom prst="rect">
            <a:avLst/>
          </a:prstGeom>
          <a:solidFill>
            <a:srgbClr val="1E4A45"/>
          </a:solidFill>
          <a:ln w="9525">
            <a:solidFill>
              <a:srgbClr val="141B4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41080" y="5349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{'x': 8, 'y': 2}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Asignación, Escritura y Tabla de Símbolos · ANTLR + Python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345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34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Ejecutando el intérprete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214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48840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Main.py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2402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 :=  y no  =  ?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7889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:= (como Pascal, Go o Bazilio) en vez de = para dejar libre el símbolo = por si más adelante agregan comparaciones de igualdad, por ejemplo dentro de un if: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3977640"/>
            <a:ext cx="4800600" cy="640080"/>
          </a:xfrm>
          <a:prstGeom prst="roundRect">
            <a:avLst>
              <a:gd name="adj" fmla="val 11429"/>
            </a:avLst>
          </a:prstGeom>
          <a:solidFill>
            <a:srgbClr val="1214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93992" y="4114800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== y then ...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48463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la gramática nunca confunde "estoy asignando" con "estoy comparando" — son dos tokens distintos desde el lexer.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Asignación, Escritura y Tabla de Símbolos · ANTLR + Python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2026-09-23T17:26:29Z</dcterms:created>
  <dcterms:modified xsi:type="dcterms:W3CDTF">2026-09-23T17:26:29Z</dcterms:modified>
</cp:coreProperties>
</file>